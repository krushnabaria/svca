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2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94" d="100"/>
          <a:sy n="94" d="100"/>
        </p:scale>
        <p:origin x="22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4/4/2026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68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58" r:id="rId16"/>
    <p:sldLayoutId id="2147483659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admin.mysvca.com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mySVCA.com</a:t>
            </a:r>
            <a:endParaRPr lang="en-IN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Website User Guide Manuals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761237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20436" y="420078"/>
            <a:ext cx="11895364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1" dirty="0" smtClean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HOW TO LOGIN</a:t>
            </a:r>
            <a:endParaRPr lang="en-US" sz="5400" b="1" dirty="0">
              <a:ln w="12700">
                <a:solidFill>
                  <a:schemeClr val="accent1"/>
                </a:solidFill>
                <a:prstDash val="solid"/>
              </a:ln>
              <a:pattFill prst="pct50">
                <a:fgClr>
                  <a:schemeClr val="accent1"/>
                </a:fgClr>
                <a:bgClr>
                  <a:schemeClr val="accent1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accent1"/>
                </a:outerShdw>
              </a:effectLst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04156" y="2114550"/>
            <a:ext cx="6204857" cy="38318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hlinkClick r:id="rId2"/>
              </a:rPr>
              <a:t>https://admin.mysvca.com/</a:t>
            </a:r>
            <a:endParaRPr lang="en-US" dirty="0" smtClean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gu-IN" dirty="0" smtClean="0"/>
              <a:t>ઉપર આપેલી link કોઈ પણ browser માં open કરો.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gu-IN" dirty="0" smtClean="0"/>
              <a:t>ત્યાર બાદ બાજમાં આપેલા ફોટો મુજબ page open થશે.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gu-IN" dirty="0" smtClean="0"/>
              <a:t>તેમાં સંસ્થા એ આપેલા email અને password લખવાનો રહેશે.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gu-IN" dirty="0" smtClean="0"/>
              <a:t>1 નંબર માં તમારો email દાખલ કરો.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gu-IN" dirty="0" smtClean="0"/>
              <a:t>2 નંબર માં તમારો password દાખલ કરો.</a:t>
            </a:r>
            <a:endParaRPr lang="en-IN" dirty="0"/>
          </a:p>
        </p:txBody>
      </p:sp>
      <p:sp>
        <p:nvSpPr>
          <p:cNvPr id="7" name="TextBox 6"/>
          <p:cNvSpPr txBox="1"/>
          <p:nvPr/>
        </p:nvSpPr>
        <p:spPr>
          <a:xfrm>
            <a:off x="6809014" y="2457451"/>
            <a:ext cx="4914900" cy="39188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7967" y="2114550"/>
            <a:ext cx="4075947" cy="4433207"/>
          </a:xfrm>
          <a:prstGeom prst="rect">
            <a:avLst/>
          </a:prstGeom>
        </p:spPr>
      </p:pic>
      <p:cxnSp>
        <p:nvCxnSpPr>
          <p:cNvPr id="10" name="Straight Arrow Connector 9"/>
          <p:cNvCxnSpPr/>
          <p:nvPr/>
        </p:nvCxnSpPr>
        <p:spPr>
          <a:xfrm flipH="1">
            <a:off x="10017581" y="3796393"/>
            <a:ext cx="375555" cy="35922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0393136" y="3477985"/>
            <a:ext cx="277585" cy="293915"/>
          </a:xfrm>
          <a:prstGeom prst="rect">
            <a:avLst/>
          </a:prstGeom>
          <a:solidFill>
            <a:schemeClr val="tx1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303328" y="3440277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gu-IN" dirty="0" smtClean="0">
                <a:solidFill>
                  <a:schemeClr val="accent6"/>
                </a:solidFill>
              </a:rPr>
              <a:t>1</a:t>
            </a:r>
            <a:endParaRPr lang="en-IN" dirty="0">
              <a:solidFill>
                <a:schemeClr val="accent6"/>
              </a:solidFill>
            </a:endParaRPr>
          </a:p>
        </p:txBody>
      </p:sp>
      <p:cxnSp>
        <p:nvCxnSpPr>
          <p:cNvPr id="16" name="Straight Arrow Connector 15"/>
          <p:cNvCxnSpPr/>
          <p:nvPr/>
        </p:nvCxnSpPr>
        <p:spPr>
          <a:xfrm flipH="1">
            <a:off x="10017580" y="4498523"/>
            <a:ext cx="375555" cy="35922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0384971" y="4343397"/>
            <a:ext cx="277586" cy="261258"/>
          </a:xfrm>
          <a:prstGeom prst="rect">
            <a:avLst/>
          </a:prstGeom>
          <a:solidFill>
            <a:schemeClr val="tx1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376808" y="4281196"/>
            <a:ext cx="293917" cy="37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gu-IN" dirty="0" smtClean="0">
                <a:solidFill>
                  <a:schemeClr val="accent6"/>
                </a:solidFill>
              </a:rPr>
              <a:t>2</a:t>
            </a:r>
            <a:endParaRPr lang="en-IN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927529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20435" y="158821"/>
            <a:ext cx="11895364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1" dirty="0" smtClean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Dashboard</a:t>
            </a:r>
            <a:endParaRPr lang="en-US" sz="5400" b="1" dirty="0">
              <a:ln w="12700">
                <a:solidFill>
                  <a:schemeClr val="accent1"/>
                </a:solidFill>
                <a:prstDash val="solid"/>
              </a:ln>
              <a:pattFill prst="pct50">
                <a:fgClr>
                  <a:schemeClr val="accent1"/>
                </a:fgClr>
                <a:bgClr>
                  <a:schemeClr val="accent1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accent1"/>
                </a:outerShdw>
              </a:effectLst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959" y="1229108"/>
            <a:ext cx="10352315" cy="5349891"/>
          </a:xfrm>
          <a:prstGeom prst="rect">
            <a:avLst/>
          </a:prstGeom>
        </p:spPr>
      </p:pic>
      <p:cxnSp>
        <p:nvCxnSpPr>
          <p:cNvPr id="11" name="Straight Arrow Connector 10"/>
          <p:cNvCxnSpPr/>
          <p:nvPr/>
        </p:nvCxnSpPr>
        <p:spPr>
          <a:xfrm flipH="1">
            <a:off x="6327321" y="1600199"/>
            <a:ext cx="228600" cy="31024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 flipH="1">
            <a:off x="6335485" y="2490110"/>
            <a:ext cx="367393" cy="20955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 flipH="1">
            <a:off x="4977493" y="2480587"/>
            <a:ext cx="367393" cy="20955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 flipH="1">
            <a:off x="8395607" y="2498274"/>
            <a:ext cx="367393" cy="20955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H="1">
            <a:off x="3627665" y="2498274"/>
            <a:ext cx="367393" cy="20955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/>
          <p:nvPr/>
        </p:nvCxnSpPr>
        <p:spPr>
          <a:xfrm flipH="1">
            <a:off x="10455729" y="2480587"/>
            <a:ext cx="367393" cy="20955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 flipH="1" flipV="1">
            <a:off x="3826328" y="3597728"/>
            <a:ext cx="263979" cy="30632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 flipH="1" flipV="1">
            <a:off x="10534655" y="4093027"/>
            <a:ext cx="263979" cy="30632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/>
        </p:nvCxnSpPr>
        <p:spPr>
          <a:xfrm>
            <a:off x="10238014" y="5739493"/>
            <a:ext cx="449042" cy="24493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/>
          <p:nvPr/>
        </p:nvCxnSpPr>
        <p:spPr>
          <a:xfrm flipH="1" flipV="1">
            <a:off x="3540574" y="5573487"/>
            <a:ext cx="400052" cy="21499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6560002" y="1314449"/>
            <a:ext cx="342900" cy="285750"/>
          </a:xfrm>
          <a:prstGeom prst="rect">
            <a:avLst/>
          </a:prstGeom>
          <a:solidFill>
            <a:schemeClr val="tx1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2" name="TextBox 31"/>
          <p:cNvSpPr txBox="1"/>
          <p:nvPr/>
        </p:nvSpPr>
        <p:spPr>
          <a:xfrm>
            <a:off x="6547757" y="1284323"/>
            <a:ext cx="371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accent6"/>
                </a:solidFill>
              </a:rPr>
              <a:t>1</a:t>
            </a:r>
            <a:endParaRPr lang="en-IN" dirty="0">
              <a:solidFill>
                <a:schemeClr val="accent6"/>
              </a:solidFill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4004584" y="2246541"/>
            <a:ext cx="323849" cy="251733"/>
          </a:xfrm>
          <a:prstGeom prst="rect">
            <a:avLst/>
          </a:prstGeom>
          <a:solidFill>
            <a:schemeClr val="tx1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4" name="TextBox 33"/>
          <p:cNvSpPr txBox="1"/>
          <p:nvPr/>
        </p:nvSpPr>
        <p:spPr>
          <a:xfrm>
            <a:off x="3978046" y="2182976"/>
            <a:ext cx="371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accent6"/>
                </a:solidFill>
              </a:rPr>
              <a:t>2</a:t>
            </a:r>
            <a:endParaRPr lang="en-IN" dirty="0">
              <a:solidFill>
                <a:schemeClr val="accent6"/>
              </a:solidFill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357136" y="2219329"/>
            <a:ext cx="323849" cy="251733"/>
          </a:xfrm>
          <a:prstGeom prst="rect">
            <a:avLst/>
          </a:prstGeom>
          <a:solidFill>
            <a:schemeClr val="tx1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7" name="Rectangle 36"/>
          <p:cNvSpPr/>
          <p:nvPr/>
        </p:nvSpPr>
        <p:spPr>
          <a:xfrm>
            <a:off x="6709686" y="2232938"/>
            <a:ext cx="323849" cy="251733"/>
          </a:xfrm>
          <a:prstGeom prst="rect">
            <a:avLst/>
          </a:prstGeom>
          <a:solidFill>
            <a:schemeClr val="tx1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8" name="Rectangle 37"/>
          <p:cNvSpPr/>
          <p:nvPr/>
        </p:nvSpPr>
        <p:spPr>
          <a:xfrm>
            <a:off x="8772534" y="2230217"/>
            <a:ext cx="323849" cy="251733"/>
          </a:xfrm>
          <a:prstGeom prst="rect">
            <a:avLst/>
          </a:prstGeom>
          <a:solidFill>
            <a:schemeClr val="tx1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9" name="Rectangle 38"/>
          <p:cNvSpPr/>
          <p:nvPr/>
        </p:nvSpPr>
        <p:spPr>
          <a:xfrm>
            <a:off x="10843543" y="2211169"/>
            <a:ext cx="323849" cy="251733"/>
          </a:xfrm>
          <a:prstGeom prst="rect">
            <a:avLst/>
          </a:prstGeom>
          <a:solidFill>
            <a:schemeClr val="tx1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0" name="Rectangle 39"/>
          <p:cNvSpPr/>
          <p:nvPr/>
        </p:nvSpPr>
        <p:spPr>
          <a:xfrm>
            <a:off x="10808165" y="4396480"/>
            <a:ext cx="323849" cy="251733"/>
          </a:xfrm>
          <a:prstGeom prst="rect">
            <a:avLst/>
          </a:prstGeom>
          <a:solidFill>
            <a:schemeClr val="tx1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1" name="Rectangle 40"/>
          <p:cNvSpPr/>
          <p:nvPr/>
        </p:nvSpPr>
        <p:spPr>
          <a:xfrm>
            <a:off x="4110720" y="3920231"/>
            <a:ext cx="323849" cy="251733"/>
          </a:xfrm>
          <a:prstGeom prst="rect">
            <a:avLst/>
          </a:prstGeom>
          <a:solidFill>
            <a:schemeClr val="tx1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2" name="Rectangle 41"/>
          <p:cNvSpPr/>
          <p:nvPr/>
        </p:nvSpPr>
        <p:spPr>
          <a:xfrm>
            <a:off x="3961042" y="5795295"/>
            <a:ext cx="323849" cy="251733"/>
          </a:xfrm>
          <a:prstGeom prst="rect">
            <a:avLst/>
          </a:prstGeom>
          <a:solidFill>
            <a:schemeClr val="tx1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3" name="Rectangle 42"/>
          <p:cNvSpPr/>
          <p:nvPr/>
        </p:nvSpPr>
        <p:spPr>
          <a:xfrm>
            <a:off x="9893763" y="5506825"/>
            <a:ext cx="323849" cy="251733"/>
          </a:xfrm>
          <a:prstGeom prst="rect">
            <a:avLst/>
          </a:prstGeom>
          <a:solidFill>
            <a:schemeClr val="tx1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4" name="TextBox 43"/>
          <p:cNvSpPr txBox="1"/>
          <p:nvPr/>
        </p:nvSpPr>
        <p:spPr>
          <a:xfrm>
            <a:off x="5330596" y="2155768"/>
            <a:ext cx="371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accent6"/>
                </a:solidFill>
              </a:rPr>
              <a:t>3</a:t>
            </a:r>
            <a:endParaRPr lang="en-IN" dirty="0">
              <a:solidFill>
                <a:schemeClr val="accent6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6691310" y="2169380"/>
            <a:ext cx="371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accent6"/>
                </a:solidFill>
              </a:rPr>
              <a:t>4</a:t>
            </a:r>
            <a:endParaRPr lang="en-IN" dirty="0">
              <a:solidFill>
                <a:schemeClr val="accent6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8745989" y="2166663"/>
            <a:ext cx="371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accent6"/>
                </a:solidFill>
              </a:rPr>
              <a:t>5</a:t>
            </a:r>
            <a:endParaRPr lang="en-IN" dirty="0">
              <a:solidFill>
                <a:schemeClr val="accent6"/>
              </a:solidFill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0816994" y="2155783"/>
            <a:ext cx="371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accent6"/>
                </a:solidFill>
              </a:rPr>
              <a:t>6</a:t>
            </a:r>
            <a:endParaRPr lang="en-IN" dirty="0">
              <a:solidFill>
                <a:schemeClr val="accent6"/>
              </a:solidFill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0789781" y="4341096"/>
            <a:ext cx="371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accent6"/>
                </a:solidFill>
              </a:rPr>
              <a:t>8</a:t>
            </a:r>
            <a:endParaRPr lang="en-IN" dirty="0">
              <a:solidFill>
                <a:schemeClr val="accent6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084169" y="3856686"/>
            <a:ext cx="371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accent6"/>
                </a:solidFill>
              </a:rPr>
              <a:t>7</a:t>
            </a:r>
            <a:endParaRPr lang="en-IN" dirty="0">
              <a:solidFill>
                <a:schemeClr val="accent6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934492" y="5739917"/>
            <a:ext cx="371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accent6"/>
                </a:solidFill>
              </a:rPr>
              <a:t>9</a:t>
            </a:r>
            <a:endParaRPr lang="en-IN" dirty="0">
              <a:solidFill>
                <a:schemeClr val="accent6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9834555" y="5451450"/>
            <a:ext cx="4606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accent6"/>
                </a:solidFill>
              </a:rPr>
              <a:t>10</a:t>
            </a:r>
            <a:endParaRPr lang="en-IN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34107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0435" y="158821"/>
            <a:ext cx="11895364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1" dirty="0" smtClean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Dashboard</a:t>
            </a:r>
            <a:endParaRPr lang="en-US" sz="5400" b="1" dirty="0">
              <a:ln w="12700">
                <a:solidFill>
                  <a:schemeClr val="accent1"/>
                </a:solidFill>
                <a:prstDash val="solid"/>
              </a:ln>
              <a:pattFill prst="pct50">
                <a:fgClr>
                  <a:schemeClr val="accent1"/>
                </a:fgClr>
                <a:bgClr>
                  <a:schemeClr val="accent1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accent1"/>
                </a:outerShdw>
              </a:effectLst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12370" y="1082151"/>
            <a:ext cx="1031149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gu-IN" dirty="0" smtClean="0"/>
              <a:t>Login કર્યા બાદ ઉપર </a:t>
            </a:r>
            <a:r>
              <a:rPr lang="gu-IN" dirty="0"/>
              <a:t>દર્શાવ્યા </a:t>
            </a:r>
            <a:r>
              <a:rPr lang="gu-IN" dirty="0" smtClean="0"/>
              <a:t>પ્રમાણે Screen દેખાશે.</a:t>
            </a:r>
          </a:p>
          <a:p>
            <a:pPr marL="342900" indent="-34290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gu-IN" dirty="0" smtClean="0"/>
              <a:t>જેમાં નીચે નંબર મુજબ data દર્શાવવા માં આવ્યા છે.</a:t>
            </a:r>
          </a:p>
          <a:p>
            <a:pPr marL="800100" lvl="1" indent="-342900">
              <a:lnSpc>
                <a:spcPct val="250000"/>
              </a:lnSpc>
              <a:buFont typeface="+mj-lt"/>
              <a:buAutoNum type="arabicPeriod"/>
            </a:pPr>
            <a:endParaRPr lang="en-IN" dirty="0"/>
          </a:p>
        </p:txBody>
      </p:sp>
      <p:sp>
        <p:nvSpPr>
          <p:cNvPr id="7" name="TextBox 6"/>
          <p:cNvSpPr txBox="1"/>
          <p:nvPr/>
        </p:nvSpPr>
        <p:spPr>
          <a:xfrm>
            <a:off x="1012370" y="2139044"/>
            <a:ext cx="1000125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gu-IN" dirty="0" smtClean="0"/>
              <a:t>મહિનો select કરવા માટે</a:t>
            </a:r>
            <a:r>
              <a:rPr lang="gu-IN" dirty="0" smtClean="0"/>
              <a:t>.</a:t>
            </a:r>
            <a:endParaRPr lang="en-US" dirty="0" smtClean="0"/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IN" dirty="0" smtClean="0"/>
              <a:t>S</a:t>
            </a:r>
            <a:r>
              <a:rPr lang="gu-IN" dirty="0" smtClean="0"/>
              <a:t>elect કરેલા મહિના માં થઈલા total </a:t>
            </a:r>
            <a:r>
              <a:rPr lang="en-IN" dirty="0"/>
              <a:t>Admission</a:t>
            </a:r>
            <a:r>
              <a:rPr lang="gu-IN" dirty="0" smtClean="0"/>
              <a:t> દર્શાવે છે.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IN" dirty="0" smtClean="0"/>
              <a:t>S</a:t>
            </a:r>
            <a:r>
              <a:rPr lang="gu-IN" dirty="0"/>
              <a:t>elect કરેલા મહિના માં </a:t>
            </a:r>
            <a:r>
              <a:rPr lang="gu-IN" dirty="0" smtClean="0"/>
              <a:t>થઈલી </a:t>
            </a:r>
            <a:r>
              <a:rPr lang="gu-IN" dirty="0"/>
              <a:t>total </a:t>
            </a:r>
            <a:r>
              <a:rPr lang="en-IN" dirty="0" smtClean="0"/>
              <a:t>Inquiries</a:t>
            </a:r>
            <a:r>
              <a:rPr lang="gu-IN" b="1" dirty="0" smtClean="0"/>
              <a:t> </a:t>
            </a:r>
            <a:r>
              <a:rPr lang="gu-IN" dirty="0" smtClean="0"/>
              <a:t>દર્શાવે </a:t>
            </a:r>
            <a:r>
              <a:rPr lang="gu-IN" dirty="0"/>
              <a:t>છે</a:t>
            </a:r>
            <a:r>
              <a:rPr lang="gu-IN" dirty="0" smtClean="0"/>
              <a:t>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IN" dirty="0"/>
              <a:t>S</a:t>
            </a:r>
            <a:r>
              <a:rPr lang="gu-IN" dirty="0"/>
              <a:t>elect કરેલા મહિના </a:t>
            </a:r>
            <a:r>
              <a:rPr lang="gu-IN" dirty="0" smtClean="0"/>
              <a:t>ના </a:t>
            </a:r>
            <a:r>
              <a:rPr lang="gu-IN" dirty="0"/>
              <a:t>total </a:t>
            </a:r>
            <a:r>
              <a:rPr lang="en-IN" dirty="0"/>
              <a:t>Follow </a:t>
            </a:r>
            <a:r>
              <a:rPr lang="en-IN" dirty="0" smtClean="0"/>
              <a:t>Up</a:t>
            </a:r>
            <a:r>
              <a:rPr lang="gu-IN" b="1" dirty="0" smtClean="0"/>
              <a:t> </a:t>
            </a:r>
            <a:r>
              <a:rPr lang="gu-IN" dirty="0" smtClean="0"/>
              <a:t>દર્શાવે </a:t>
            </a:r>
            <a:r>
              <a:rPr lang="gu-IN" dirty="0"/>
              <a:t>છે</a:t>
            </a:r>
            <a:r>
              <a:rPr lang="gu-IN" dirty="0" smtClean="0"/>
              <a:t>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IN" dirty="0" smtClean="0"/>
              <a:t>C</a:t>
            </a:r>
            <a:r>
              <a:rPr lang="gu-IN" dirty="0" smtClean="0"/>
              <a:t>enter ના total student </a:t>
            </a:r>
            <a:r>
              <a:rPr lang="gu-IN" dirty="0"/>
              <a:t>દર્શાવે છે</a:t>
            </a:r>
            <a:r>
              <a:rPr lang="gu-IN" dirty="0" smtClean="0"/>
              <a:t>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IN" dirty="0"/>
              <a:t>C</a:t>
            </a:r>
            <a:r>
              <a:rPr lang="gu-IN" dirty="0"/>
              <a:t>enter </a:t>
            </a:r>
            <a:r>
              <a:rPr lang="gu-IN" dirty="0" smtClean="0"/>
              <a:t>ની </a:t>
            </a:r>
            <a:r>
              <a:rPr lang="gu-IN" dirty="0"/>
              <a:t>total </a:t>
            </a:r>
            <a:r>
              <a:rPr lang="en-IN" dirty="0" smtClean="0"/>
              <a:t>Inquiries</a:t>
            </a:r>
            <a:r>
              <a:rPr lang="gu-IN" b="1" dirty="0" smtClean="0"/>
              <a:t> </a:t>
            </a:r>
            <a:r>
              <a:rPr lang="gu-IN" dirty="0" smtClean="0"/>
              <a:t>દર્શાવે </a:t>
            </a:r>
            <a:r>
              <a:rPr lang="gu-IN" dirty="0"/>
              <a:t>છે</a:t>
            </a:r>
            <a:r>
              <a:rPr lang="gu-IN" dirty="0" smtClean="0"/>
              <a:t>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gu-IN" dirty="0" smtClean="0"/>
              <a:t>આજની total </a:t>
            </a:r>
            <a:r>
              <a:rPr lang="en-IN" dirty="0"/>
              <a:t>Follow </a:t>
            </a:r>
            <a:r>
              <a:rPr lang="en-IN" dirty="0" smtClean="0"/>
              <a:t>Up</a:t>
            </a:r>
            <a:r>
              <a:rPr lang="gu-IN" dirty="0" smtClean="0"/>
              <a:t> ની list </a:t>
            </a:r>
            <a:r>
              <a:rPr lang="gu-IN" dirty="0"/>
              <a:t>દર્શાવે છે</a:t>
            </a:r>
            <a:r>
              <a:rPr lang="gu-IN" dirty="0" smtClean="0"/>
              <a:t>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IN" dirty="0" smtClean="0"/>
              <a:t>L</a:t>
            </a:r>
            <a:r>
              <a:rPr lang="gu-IN" dirty="0" smtClean="0"/>
              <a:t>ist માંથી નામ શોધવા માટે.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gu-IN" dirty="0" smtClean="0"/>
              <a:t>છેલ્લા ૭ દિવસ ની </a:t>
            </a:r>
            <a:r>
              <a:rPr lang="en-IN" dirty="0"/>
              <a:t>Inquiries</a:t>
            </a:r>
            <a:r>
              <a:rPr lang="gu-IN" b="1" dirty="0"/>
              <a:t> </a:t>
            </a:r>
            <a:r>
              <a:rPr lang="gu-IN" dirty="0" smtClean="0"/>
              <a:t>નું list</a:t>
            </a:r>
            <a:r>
              <a:rPr lang="gu-IN" b="1" dirty="0" smtClean="0"/>
              <a:t> </a:t>
            </a:r>
            <a:r>
              <a:rPr lang="gu-IN" dirty="0"/>
              <a:t>દર્શાવે છે.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gu-IN" dirty="0" smtClean="0"/>
              <a:t> </a:t>
            </a:r>
            <a:r>
              <a:rPr lang="en-IN" dirty="0"/>
              <a:t>L</a:t>
            </a:r>
            <a:r>
              <a:rPr lang="gu-IN" dirty="0"/>
              <a:t>ist માંથી નામ શોધવા માટે</a:t>
            </a:r>
            <a:r>
              <a:rPr lang="gu-IN" dirty="0" smtClean="0"/>
              <a:t>.</a:t>
            </a:r>
            <a:endParaRPr lang="gu-IN" dirty="0"/>
          </a:p>
        </p:txBody>
      </p:sp>
    </p:spTree>
    <p:extLst>
      <p:ext uri="{BB962C8B-B14F-4D97-AF65-F5344CB8AC3E}">
        <p14:creationId xmlns:p14="http://schemas.microsoft.com/office/powerpoint/2010/main" val="18572412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0435" y="118000"/>
            <a:ext cx="11895364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1" dirty="0" smtClean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</a:rPr>
              <a:t>Expense</a:t>
            </a:r>
            <a:endParaRPr lang="en-US" sz="5400" b="1" dirty="0">
              <a:ln w="12700">
                <a:solidFill>
                  <a:schemeClr val="accent1"/>
                </a:solidFill>
                <a:prstDash val="solid"/>
              </a:ln>
              <a:pattFill prst="pct50">
                <a:fgClr>
                  <a:schemeClr val="accent1"/>
                </a:fgClr>
                <a:bgClr>
                  <a:schemeClr val="accent1">
                    <a:lumMod val="20000"/>
                    <a:lumOff val="80000"/>
                  </a:schemeClr>
                </a:bgClr>
              </a:patt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259" y="1279083"/>
            <a:ext cx="11019715" cy="5244182"/>
          </a:xfrm>
          <a:prstGeom prst="rect">
            <a:avLst/>
          </a:prstGeom>
        </p:spPr>
      </p:pic>
      <p:cxnSp>
        <p:nvCxnSpPr>
          <p:cNvPr id="8" name="Straight Arrow Connector 7"/>
          <p:cNvCxnSpPr/>
          <p:nvPr/>
        </p:nvCxnSpPr>
        <p:spPr>
          <a:xfrm flipH="1">
            <a:off x="4057650" y="1877778"/>
            <a:ext cx="228600" cy="31024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 flipH="1">
            <a:off x="4210050" y="4136565"/>
            <a:ext cx="228600" cy="31024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 flipH="1">
            <a:off x="5064577" y="4876792"/>
            <a:ext cx="228600" cy="31024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2881992" y="5178871"/>
            <a:ext cx="367389" cy="1360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 flipH="1">
            <a:off x="7761841" y="3826322"/>
            <a:ext cx="228600" cy="31024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 flipH="1">
            <a:off x="4171950" y="2552703"/>
            <a:ext cx="228600" cy="31024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 flipH="1">
            <a:off x="5826579" y="2552702"/>
            <a:ext cx="228600" cy="31024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 flipH="1">
            <a:off x="8118022" y="2552702"/>
            <a:ext cx="228600" cy="31024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 flipH="1">
            <a:off x="9897998" y="2552702"/>
            <a:ext cx="228600" cy="31024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 flipV="1">
            <a:off x="10229850" y="3007181"/>
            <a:ext cx="146958" cy="34017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4286250" y="1600193"/>
            <a:ext cx="326571" cy="277585"/>
          </a:xfrm>
          <a:prstGeom prst="rect">
            <a:avLst/>
          </a:prstGeom>
          <a:solidFill>
            <a:schemeClr val="tx1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>
                <a:solidFill>
                  <a:schemeClr val="accent6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405994" y="2266939"/>
            <a:ext cx="326571" cy="277585"/>
          </a:xfrm>
          <a:prstGeom prst="rect">
            <a:avLst/>
          </a:prstGeom>
          <a:solidFill>
            <a:schemeClr val="tx1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>
                <a:solidFill>
                  <a:schemeClr val="accent6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076953" y="2264219"/>
            <a:ext cx="326571" cy="277585"/>
          </a:xfrm>
          <a:prstGeom prst="rect">
            <a:avLst/>
          </a:prstGeom>
          <a:solidFill>
            <a:schemeClr val="tx1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>
                <a:solidFill>
                  <a:schemeClr val="accent6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343903" y="2277830"/>
            <a:ext cx="326571" cy="277585"/>
          </a:xfrm>
          <a:prstGeom prst="rect">
            <a:avLst/>
          </a:prstGeom>
          <a:solidFill>
            <a:schemeClr val="tx1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>
                <a:solidFill>
                  <a:schemeClr val="accent6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10129164" y="2283277"/>
            <a:ext cx="326571" cy="277585"/>
          </a:xfrm>
          <a:prstGeom prst="rect">
            <a:avLst/>
          </a:prstGeom>
          <a:solidFill>
            <a:schemeClr val="tx1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>
                <a:solidFill>
                  <a:schemeClr val="accent6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9946831" y="3341914"/>
            <a:ext cx="326571" cy="277585"/>
          </a:xfrm>
          <a:prstGeom prst="rect">
            <a:avLst/>
          </a:prstGeom>
          <a:solidFill>
            <a:schemeClr val="tx1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>
                <a:solidFill>
                  <a:schemeClr val="accent6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7886706" y="3535134"/>
            <a:ext cx="326571" cy="277585"/>
          </a:xfrm>
          <a:prstGeom prst="rect">
            <a:avLst/>
          </a:prstGeom>
          <a:solidFill>
            <a:schemeClr val="tx1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>
                <a:solidFill>
                  <a:schemeClr val="accent6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214260" y="4601932"/>
            <a:ext cx="326571" cy="277585"/>
          </a:xfrm>
          <a:prstGeom prst="rect">
            <a:avLst/>
          </a:prstGeom>
          <a:solidFill>
            <a:schemeClr val="tx1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>
                <a:solidFill>
                  <a:schemeClr val="accent6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4264481" y="3872590"/>
            <a:ext cx="326571" cy="277585"/>
          </a:xfrm>
          <a:prstGeom prst="rect">
            <a:avLst/>
          </a:prstGeom>
          <a:solidFill>
            <a:schemeClr val="tx1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>
                <a:solidFill>
                  <a:schemeClr val="accent6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555419" y="5012864"/>
            <a:ext cx="326571" cy="277585"/>
          </a:xfrm>
          <a:prstGeom prst="rect">
            <a:avLst/>
          </a:prstGeom>
          <a:solidFill>
            <a:schemeClr val="tx1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>
                <a:solidFill>
                  <a:schemeClr val="accent6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4278085" y="1561903"/>
            <a:ext cx="3265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accent6"/>
                </a:solidFill>
              </a:rPr>
              <a:t>6</a:t>
            </a:r>
            <a:endParaRPr lang="en-IN" dirty="0">
              <a:solidFill>
                <a:schemeClr val="accent6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405994" y="2226123"/>
            <a:ext cx="3265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accent6"/>
                </a:solidFill>
              </a:rPr>
              <a:t>7</a:t>
            </a:r>
            <a:endParaRPr lang="en-IN" dirty="0">
              <a:solidFill>
                <a:schemeClr val="accent6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085116" y="2207074"/>
            <a:ext cx="3265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accent6"/>
                </a:solidFill>
              </a:rPr>
              <a:t>8</a:t>
            </a:r>
            <a:endParaRPr lang="en-IN" dirty="0">
              <a:solidFill>
                <a:schemeClr val="accent6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8343900" y="2228850"/>
            <a:ext cx="3265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accent6"/>
                </a:solidFill>
              </a:rPr>
              <a:t>9</a:t>
            </a:r>
            <a:endParaRPr lang="en-IN" dirty="0">
              <a:solidFill>
                <a:schemeClr val="accent6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0063848" y="2234295"/>
            <a:ext cx="473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accent6"/>
                </a:solidFill>
              </a:rPr>
              <a:t>10</a:t>
            </a:r>
            <a:endParaRPr lang="en-IN" dirty="0">
              <a:solidFill>
                <a:schemeClr val="accent6"/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9881508" y="3292927"/>
            <a:ext cx="5089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accent6"/>
                </a:solidFill>
              </a:rPr>
              <a:t>11</a:t>
            </a:r>
            <a:endParaRPr lang="en-IN" dirty="0">
              <a:solidFill>
                <a:schemeClr val="accent6"/>
              </a:solidFill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7878536" y="3486147"/>
            <a:ext cx="3265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accent6"/>
                </a:solidFill>
              </a:rPr>
              <a:t>5</a:t>
            </a:r>
            <a:endParaRPr lang="en-IN" dirty="0">
              <a:solidFill>
                <a:schemeClr val="accent6"/>
              </a:solidFill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259033" y="3818159"/>
            <a:ext cx="3265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accent6"/>
                </a:solidFill>
              </a:rPr>
              <a:t>1</a:t>
            </a:r>
            <a:endParaRPr lang="en-IN" dirty="0">
              <a:solidFill>
                <a:schemeClr val="accent6"/>
              </a:solidFill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5227860" y="4558388"/>
            <a:ext cx="3265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accent6"/>
                </a:solidFill>
              </a:rPr>
              <a:t>2</a:t>
            </a:r>
            <a:endParaRPr lang="en-IN" dirty="0">
              <a:solidFill>
                <a:schemeClr val="accent6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2555414" y="4963881"/>
            <a:ext cx="3265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accent6"/>
                </a:solidFill>
              </a:rPr>
              <a:t>3</a:t>
            </a:r>
            <a:endParaRPr lang="en-IN" dirty="0">
              <a:solidFill>
                <a:schemeClr val="accent6"/>
              </a:solidFill>
            </a:endParaRPr>
          </a:p>
        </p:txBody>
      </p:sp>
      <p:cxnSp>
        <p:nvCxnSpPr>
          <p:cNvPr id="43" name="Straight Arrow Connector 42"/>
          <p:cNvCxnSpPr/>
          <p:nvPr/>
        </p:nvCxnSpPr>
        <p:spPr>
          <a:xfrm flipH="1">
            <a:off x="1834241" y="1875061"/>
            <a:ext cx="228600" cy="31024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678784" y="1638089"/>
            <a:ext cx="11430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>
                <a:solidFill>
                  <a:schemeClr val="accent6"/>
                </a:solidFill>
              </a:rPr>
              <a:t>Expense tab</a:t>
            </a:r>
            <a:endParaRPr lang="en-IN" sz="1200" dirty="0">
              <a:solidFill>
                <a:schemeClr val="accent6"/>
              </a:solidFill>
            </a:endParaRPr>
          </a:p>
        </p:txBody>
      </p:sp>
      <p:cxnSp>
        <p:nvCxnSpPr>
          <p:cNvPr id="45" name="Straight Arrow Connector 44"/>
          <p:cNvCxnSpPr/>
          <p:nvPr/>
        </p:nvCxnSpPr>
        <p:spPr>
          <a:xfrm flipV="1">
            <a:off x="4057650" y="5557151"/>
            <a:ext cx="114300" cy="28031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3940632" y="5826575"/>
            <a:ext cx="326571" cy="277585"/>
          </a:xfrm>
          <a:prstGeom prst="rect">
            <a:avLst/>
          </a:prstGeom>
          <a:solidFill>
            <a:schemeClr val="tx1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>
                <a:solidFill>
                  <a:schemeClr val="accent6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3948789" y="5793920"/>
            <a:ext cx="3265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4</a:t>
            </a:r>
            <a:endParaRPr lang="en-IN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01273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0435" y="158821"/>
            <a:ext cx="11895364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1" dirty="0" smtClean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Expense</a:t>
            </a:r>
            <a:endParaRPr lang="en-US" sz="5400" b="1" dirty="0">
              <a:ln w="12700">
                <a:solidFill>
                  <a:schemeClr val="accent1"/>
                </a:solidFill>
                <a:prstDash val="solid"/>
              </a:ln>
              <a:pattFill prst="pct50">
                <a:fgClr>
                  <a:schemeClr val="accent1"/>
                </a:fgClr>
                <a:bgClr>
                  <a:schemeClr val="accent1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accent1"/>
                </a:outerShdw>
              </a:effectLst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12370" y="1082151"/>
            <a:ext cx="103114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smtClean="0"/>
              <a:t>Center </a:t>
            </a:r>
            <a:r>
              <a:rPr lang="gu-IN" dirty="0" smtClean="0"/>
              <a:t>નો ખર્ચ ઉમેરવા માટે </a:t>
            </a:r>
            <a:r>
              <a:rPr lang="en-US" dirty="0" smtClean="0"/>
              <a:t>Expense</a:t>
            </a:r>
            <a:r>
              <a:rPr lang="gu-IN" dirty="0" smtClean="0"/>
              <a:t> tab ઉપર click કરવું.</a:t>
            </a:r>
            <a:endParaRPr lang="gu-IN" dirty="0" smtClean="0"/>
          </a:p>
        </p:txBody>
      </p:sp>
      <p:sp>
        <p:nvSpPr>
          <p:cNvPr id="7" name="TextBox 6"/>
          <p:cNvSpPr txBox="1"/>
          <p:nvPr/>
        </p:nvSpPr>
        <p:spPr>
          <a:xfrm>
            <a:off x="1012370" y="1616529"/>
            <a:ext cx="1000125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gu-IN" dirty="0" smtClean="0"/>
              <a:t>ખર્ચ ની માહિતી add કરવા માટે.</a:t>
            </a:r>
            <a:endParaRPr lang="en-US" dirty="0" smtClean="0"/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gu-IN" dirty="0" smtClean="0"/>
              <a:t>ખર્ચ ની amount દાખલ કરવા માટે.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gu-IN" dirty="0" smtClean="0"/>
              <a:t>કરવામાં આવેલા ખર્ચ નું center </a:t>
            </a:r>
            <a:r>
              <a:rPr lang="en-IN" dirty="0" smtClean="0"/>
              <a:t>S</a:t>
            </a:r>
            <a:r>
              <a:rPr lang="gu-IN" dirty="0" smtClean="0"/>
              <a:t>elect કરવા માટે.</a:t>
            </a:r>
            <a:endParaRPr lang="en-US" dirty="0" smtClean="0"/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gu-IN" dirty="0" smtClean="0"/>
              <a:t>ખર્ચ save કરવા માટે.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gu-IN" dirty="0" smtClean="0"/>
              <a:t>કરવામાં આવેલા ખર્ચ નું list દર્શાવે છે.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IN" dirty="0" smtClean="0"/>
              <a:t>L</a:t>
            </a:r>
            <a:r>
              <a:rPr lang="gu-IN" dirty="0" smtClean="0"/>
              <a:t>ist મારથી ખર્ચ search કરવા માટે.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IN" dirty="0" smtClean="0"/>
              <a:t>C</a:t>
            </a:r>
            <a:r>
              <a:rPr lang="gu-IN" dirty="0" smtClean="0"/>
              <a:t>enter select કરવા માટે.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IN" dirty="0" smtClean="0"/>
              <a:t>U</a:t>
            </a:r>
            <a:r>
              <a:rPr lang="gu-IN" dirty="0" smtClean="0"/>
              <a:t>ser select કરવા માટે .</a:t>
            </a:r>
            <a:endParaRPr lang="gu-IN" dirty="0"/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gu-IN" dirty="0" smtClean="0"/>
              <a:t> તારીખ select કરવા માટે.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IN" dirty="0" smtClean="0"/>
              <a:t>S</a:t>
            </a:r>
            <a:r>
              <a:rPr lang="gu-IN" dirty="0" smtClean="0"/>
              <a:t>elect કરેલા data list માં search કરવા માટે.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IN" dirty="0"/>
              <a:t>S</a:t>
            </a:r>
            <a:r>
              <a:rPr lang="gu-IN" dirty="0"/>
              <a:t>elect કરેલા data </a:t>
            </a:r>
            <a:r>
              <a:rPr lang="gu-IN" dirty="0" smtClean="0"/>
              <a:t>clear </a:t>
            </a:r>
            <a:r>
              <a:rPr lang="gu-IN" dirty="0"/>
              <a:t>કરવા </a:t>
            </a:r>
            <a:r>
              <a:rPr lang="gu-IN" dirty="0" smtClean="0"/>
              <a:t>માટે.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gu-IN" dirty="0"/>
          </a:p>
        </p:txBody>
      </p:sp>
    </p:spTree>
    <p:extLst>
      <p:ext uri="{BB962C8B-B14F-4D97-AF65-F5344CB8AC3E}">
        <p14:creationId xmlns:p14="http://schemas.microsoft.com/office/powerpoint/2010/main" val="3584430135"/>
      </p:ext>
    </p:extLst>
  </p:cSld>
  <p:clrMapOvr>
    <a:masterClrMapping/>
  </p:clrMapOvr>
</p:sld>
</file>

<file path=ppt/theme/theme1.xml><?xml version="1.0" encoding="utf-8"?>
<a:theme xmlns:a="http://schemas.openxmlformats.org/drawingml/2006/main" name="Slice">
  <a:themeElements>
    <a:clrScheme name="Slice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lice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lic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325</TotalTime>
  <Words>286</Words>
  <Application>Microsoft Office PowerPoint</Application>
  <PresentationFormat>Widescreen</PresentationFormat>
  <Paragraphs>61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Century Gothic</vt:lpstr>
      <vt:lpstr>Shruti</vt:lpstr>
      <vt:lpstr>Wingdings 3</vt:lpstr>
      <vt:lpstr>Slice</vt:lpstr>
      <vt:lpstr>mySVCA.com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mySVCA.com</dc:title>
  <dc:creator>Microsoft account</dc:creator>
  <cp:lastModifiedBy>Microsoft account</cp:lastModifiedBy>
  <cp:revision>33</cp:revision>
  <dcterms:created xsi:type="dcterms:W3CDTF">2026-04-03T13:37:01Z</dcterms:created>
  <dcterms:modified xsi:type="dcterms:W3CDTF">2026-04-04T17:10:14Z</dcterms:modified>
</cp:coreProperties>
</file>